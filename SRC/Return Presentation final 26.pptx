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85A6-11BD-E5AD-81C4-40B2E7127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43A8B-4683-6CDD-7BBD-07A241D7F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FD774-1266-8D17-5084-E8AD0300E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38E38-DB66-3053-609E-19E88C340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FEE9B-F80C-2C0E-CE66-26DC4273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30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7571-C809-D180-A5AF-EAD5B6FD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71E19-4043-4A83-0CC3-81B31C2D5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3B4DA-4DE5-9251-1B31-73907393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56355-563E-97DB-597E-C7072797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9377B-1F63-AF9E-63A5-D06731F0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063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CEB41-E2F1-A5DB-5E88-1246A2A7B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AB35F-3222-67D3-0E05-62D0AADE6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E3E85-8206-AC55-68F0-DC52486D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446F-ECCB-6508-FBC7-165EBA3E3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15B73-26BB-4AA2-340F-4E58FE5AA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1136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9189-7FB8-1625-E819-DF42AA40C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ACDB5-2120-B232-FCFD-3078AA502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BEF40-DD25-D5F3-6565-57D262D2D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FBEF4-0CBE-5DB9-62A1-4B0CBF72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A955A-6352-605F-D433-CC0D72CD3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E2866-314F-8B9B-6789-498F7CFC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1594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1B13-2D3F-4C24-6923-0E33867B7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285B6-4A26-A8A6-8197-EF2BE524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C3740-B65A-D649-83D8-FC06CFC98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3E542-8F46-0C73-DF7D-77E0B12FF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7621E5-B490-AC01-6841-9C5B8396B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D0CE6-2355-7BA6-BC31-B79CC95C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980973-4A1A-514A-2139-E3573A4A5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8547F-B374-75A5-D7B3-C07031E0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47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F79BE-2D15-CABB-B29B-097482CF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DD21C-CB73-DF8D-1902-F4E7FB73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09EC7-B73D-D0D0-6356-D3323DB1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8AAA6-1B77-12AB-0AB7-70EF0784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06293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353450-870B-1E86-A9EF-BE036AFE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52E508-12AE-7AA3-5AAD-8CEB4C65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073A8-B1F3-E66B-3057-8E34201E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572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7BC94-AC5B-4A1C-63E0-3E91E590E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BD10C-9547-0982-806B-EE8302356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6D5D3-C8FC-B36C-C0D5-7DE64F2CD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9AB2E-828F-FC06-6E9C-AB5D6C62D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A28EE-D917-97ED-DFDF-49394BBE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C5AF-F0E3-4A94-264C-FD4CE894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820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72CF-850E-5EBD-B971-27027E241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46AEBD-DA3A-B693-7FF8-A87AF31F9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984D6-D94D-4E94-4397-EAF6885E4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2FBF0-49F0-41C7-6F1B-49C81BF62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46658-2676-F7CB-7872-0261D3E54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8C617-6A5E-7A84-C30D-B74510716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862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BFCA-939A-9C3E-C5CE-59868FA8E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FBBCD-32FD-C373-DD9A-9586E2616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E0F11-1D21-77A0-1114-6A300925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C2C9D-90C7-2AF9-EE67-6CAEECBD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50425-4154-EE9D-D554-BF7790FA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419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553A36-9403-50C2-5B45-47D6D7D27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5B302-CD29-EEE4-B120-FE039E706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9B8A7-2D74-3FBA-8E2E-114CFDD1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39833-A72B-4D21-99FF-06F341F7F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814BF-8E8F-D8AD-4D6C-2369B150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642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808DAC-3C85-8B14-B7CB-1351C9BFD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89F73-A33A-C01D-0533-8834481F9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3BF45-C88D-DE62-C442-245E97D1DA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3122E-7F14-4267-8D67-1AA609D4F91E}" type="datetimeFigureOut">
              <a:rPr lang="en-ZA" smtClean="0"/>
              <a:t>2026/10/26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726B9-A446-620B-48FD-E37DD3AA6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54236-0EB6-312B-A27B-3A119E437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E00C4-2F77-4C81-976A-8EF97541A8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828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9609-1BF3-CDB7-C28F-21529FC2A1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returns before they happen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61FFB-9517-BDBD-F5CC-16FF00407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Using </a:t>
            </a:r>
            <a:r>
              <a:rPr lang="en-US" dirty="0" err="1"/>
              <a:t>XGBoost</a:t>
            </a:r>
            <a:r>
              <a:rPr lang="en-US" dirty="0"/>
              <a:t> to identify orders that may need a closer look.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Mogomane Digashu_SS3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8275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5730-4C11-5299-5501-C55277A4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returns matter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FB5B5-5D27-1622-71BA-376CBA7AB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Shipping, handling and customer-service costs may already have occurred</a:t>
            </a:r>
          </a:p>
          <a:p>
            <a:r>
              <a:rPr lang="en-US" sz="2600" dirty="0"/>
              <a:t>Use order information to estimate which orders have a higher return risk</a:t>
            </a:r>
          </a:p>
          <a:p>
            <a:r>
              <a:rPr lang="en-US" sz="2600" dirty="0"/>
              <a:t>Important questions: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    Can we identify risk early?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    Can we avoid too many false alarms?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dirty="0"/>
              <a:t>     Will it work on future orders?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15813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AF29C-3D47-DFC1-E0C7-6F76191C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BFA1D-1047-58E8-048D-84B0A8D0B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677" y="1371600"/>
            <a:ext cx="10690123" cy="51212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Synthetic data</a:t>
            </a:r>
          </a:p>
          <a:p>
            <a:r>
              <a:rPr lang="en-US" dirty="0"/>
              <a:t>12734 model ready orders</a:t>
            </a:r>
          </a:p>
          <a:p>
            <a:r>
              <a:rPr lang="en-US" dirty="0"/>
              <a:t>30 predictor features</a:t>
            </a:r>
          </a:p>
          <a:p>
            <a:r>
              <a:rPr lang="en-ZA" dirty="0"/>
              <a:t>2653 orders labelled as returns</a:t>
            </a:r>
          </a:p>
          <a:p>
            <a:r>
              <a:rPr lang="en-ZA" dirty="0"/>
              <a:t>2022-2026 order data coverage</a:t>
            </a:r>
          </a:p>
          <a:p>
            <a:r>
              <a:rPr lang="en-US" dirty="0"/>
              <a:t>Tables created for the orders, products, customers, returns and financial data</a:t>
            </a:r>
          </a:p>
          <a:p>
            <a:r>
              <a:rPr lang="en-US" dirty="0"/>
              <a:t>Product categories and sizes, ratings, prior return behavior of customers, rates at which sellers have returned items and locations of customers provided useful signals.</a:t>
            </a:r>
          </a:p>
          <a:p>
            <a:r>
              <a:rPr lang="en-US" dirty="0"/>
              <a:t> The click stream information was excluded from consideration due to its inability to be reliably associated with orders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12439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04EA-3AC4-8F57-E34C-5757001A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9DCB9-D07C-F5CB-9206-306E6C0F2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</a:t>
            </a:r>
          </a:p>
          <a:p>
            <a:r>
              <a:rPr lang="en-US" dirty="0"/>
              <a:t>Combine</a:t>
            </a:r>
          </a:p>
          <a:p>
            <a:r>
              <a:rPr lang="en-US" dirty="0"/>
              <a:t>Prevent leakage</a:t>
            </a:r>
          </a:p>
          <a:p>
            <a:r>
              <a:rPr lang="en-US" dirty="0"/>
              <a:t>Split by time</a:t>
            </a:r>
          </a:p>
          <a:p>
            <a:pPr marL="0" indent="0">
              <a:buNone/>
            </a:pPr>
            <a:r>
              <a:rPr lang="en-US" dirty="0"/>
              <a:t>Missing values were filled, and categorical variables were encoded using training data only.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38445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178C9-0AC5-9059-AF9A-461F6FE7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EDFAF-AA4E-16B4-5B56-610635E3C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About 1 in 5 orders were returned</a:t>
            </a:r>
          </a:p>
          <a:p>
            <a:r>
              <a:rPr lang="en-US" dirty="0"/>
              <a:t>79.2 orders not returned (10081 orders)</a:t>
            </a:r>
          </a:p>
          <a:p>
            <a:r>
              <a:rPr lang="en-US" dirty="0"/>
              <a:t>20.9% returned (2653 orders)</a:t>
            </a:r>
          </a:p>
          <a:p>
            <a:r>
              <a:rPr lang="en-US" dirty="0"/>
              <a:t>Evaluation will need to consider both how many returns are identified and how many of those alerts are correct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38804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DFEF7-FBD2-2ED7-E2BF-EFCDFD69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XGBoost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5D722-79AD-A9D7-0B56-9C33DC733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many decision trees to make a prediction</a:t>
            </a:r>
          </a:p>
          <a:p>
            <a:r>
              <a:rPr lang="en-US" dirty="0"/>
              <a:t>Tree 1: Find initial patterns in the order</a:t>
            </a:r>
          </a:p>
          <a:p>
            <a:r>
              <a:rPr lang="en-US" dirty="0"/>
              <a:t>Tree 2:Focuses on mistakes made by earlier trees</a:t>
            </a:r>
          </a:p>
          <a:p>
            <a:r>
              <a:rPr lang="en-US" dirty="0"/>
              <a:t>Many trees: Combines their learning to estimate return risk.</a:t>
            </a:r>
          </a:p>
          <a:p>
            <a:r>
              <a:rPr lang="en-US" dirty="0"/>
              <a:t>To can capture complex relationships and interactions. Class weighting was used to help address the imbalance between returned and non-returned orders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2930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E88AA-C92F-3EB0-B03F-B282B16B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4DDB-9441-0105-E142-DF742D971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 on 1,911 later orders, using a fixed prediction threshold of 0.50.</a:t>
            </a:r>
          </a:p>
          <a:p>
            <a:r>
              <a:rPr lang="en-ZA" dirty="0"/>
              <a:t>71.4% Accuracy, overall prediction correct</a:t>
            </a:r>
          </a:p>
          <a:p>
            <a:r>
              <a:rPr lang="en-ZA" dirty="0"/>
              <a:t>40,7% Precision, About 4 in 10 flagged orders returned</a:t>
            </a:r>
          </a:p>
          <a:p>
            <a:r>
              <a:rPr lang="en-ZA" dirty="0"/>
              <a:t>48,8% F1 score, Balance of precision and recall</a:t>
            </a:r>
          </a:p>
          <a:p>
            <a:r>
              <a:rPr lang="en-ZA" dirty="0"/>
              <a:t>0.735 ROC-AUC, Ability to distinguish two classes</a:t>
            </a:r>
          </a:p>
          <a:p>
            <a:pPr marL="0" indent="0">
              <a:buNone/>
            </a:pPr>
            <a:r>
              <a:rPr lang="en-ZA" dirty="0"/>
              <a:t>Model caught many returns but it also raised false alarms.  Use it prioritize checks, not to cancel orders automatically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8008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D3FB-45DC-AE61-803E-DA9A3B3B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details and past returns mattered</a:t>
            </a:r>
            <a:br>
              <a:rPr lang="en-US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1D4CD-9722-C6BA-2727-6791639DB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importance shows what the model used; it does not prove what causes a return</a:t>
            </a:r>
          </a:p>
          <a:p>
            <a:r>
              <a:rPr lang="en-US" dirty="0"/>
              <a:t>One Size product size  4.32% </a:t>
            </a:r>
          </a:p>
          <a:p>
            <a:r>
              <a:rPr lang="en-US" dirty="0"/>
              <a:t>Footwear category  3.95%</a:t>
            </a:r>
          </a:p>
          <a:p>
            <a:r>
              <a:rPr lang="en-US" dirty="0"/>
              <a:t>Apparel master category  3.80%</a:t>
            </a:r>
          </a:p>
          <a:p>
            <a:r>
              <a:rPr lang="en-US" dirty="0"/>
              <a:t>Previous return rate  2.27%</a:t>
            </a:r>
          </a:p>
          <a:p>
            <a:r>
              <a:rPr lang="en-US" dirty="0"/>
              <a:t>Apparel category  2.18%</a:t>
            </a:r>
          </a:p>
          <a:p>
            <a:endParaRPr lang="en-US" dirty="0"/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23BD5-FDB3-A29D-24D7-84D1E821E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957" y="2700818"/>
            <a:ext cx="4999153" cy="341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4911C8-DD74-E8E2-82ED-AB7C8AB5C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957" y="3193601"/>
            <a:ext cx="4578493" cy="341406"/>
          </a:xfrm>
          <a:prstGeom prst="rect">
            <a:avLst/>
          </a:prstGeom>
        </p:spPr>
      </p:pic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2BCAB7BE-1217-0CBA-25CF-AEE7F6D31806}"/>
              </a:ext>
            </a:extLst>
          </p:cNvPr>
          <p:cNvSpPr/>
          <p:nvPr/>
        </p:nvSpPr>
        <p:spPr>
          <a:xfrm>
            <a:off x="6348607" y="3664399"/>
            <a:ext cx="4324095" cy="256032"/>
          </a:xfrm>
          <a:prstGeom prst="roundRect">
            <a:avLst/>
          </a:prstGeom>
          <a:solidFill>
            <a:srgbClr val="008287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E18F93-88E4-C97D-713C-F6C3FEADD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786" y="4214861"/>
            <a:ext cx="2670279" cy="341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81B912-75F2-8225-193E-509C021F7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607" y="4850697"/>
            <a:ext cx="2566638" cy="3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2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8DED7-BBF4-C75F-514E-B2676D02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should the business use the model?</a:t>
            </a:r>
            <a:br>
              <a:rPr lang="en-US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D56F6-968A-7C28-3B2A-DE035C448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small, test carefully and involve the teams who understand the costs</a:t>
            </a:r>
          </a:p>
          <a:p>
            <a:r>
              <a:rPr lang="en-ZA" dirty="0"/>
              <a:t>Fulfilment- Use scores to prioritize low cost pre-shipment checks</a:t>
            </a:r>
          </a:p>
          <a:p>
            <a:r>
              <a:rPr lang="en-ZA" dirty="0"/>
              <a:t>Product teams- review one size, footwear, apparel descriptions, sizing</a:t>
            </a:r>
          </a:p>
          <a:p>
            <a:r>
              <a:rPr lang="en-ZA" dirty="0"/>
              <a:t>Customers service- record return reasons consistently and review flagged orders</a:t>
            </a:r>
          </a:p>
          <a:p>
            <a:r>
              <a:rPr lang="en-ZA" dirty="0"/>
              <a:t>Management-approve a limited pilot only after validation on real data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48953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C07CD-88B4-AE8A-FA03-29D46B1F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08638-12F0-7480-33FE-2F8FA057A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source data is synthetic</a:t>
            </a:r>
          </a:p>
          <a:p>
            <a:r>
              <a:rPr lang="en-ZA" dirty="0"/>
              <a:t>Clickstream data was excluded</a:t>
            </a:r>
          </a:p>
          <a:p>
            <a:r>
              <a:rPr lang="en-US" dirty="0"/>
              <a:t>Order vs order-line structure needs checking</a:t>
            </a:r>
          </a:p>
          <a:p>
            <a:r>
              <a:rPr lang="en-ZA" dirty="0"/>
              <a:t>Return patterns may change over time</a:t>
            </a:r>
          </a:p>
          <a:p>
            <a:pPr marL="0" indent="0">
              <a:buNone/>
            </a:pPr>
            <a:r>
              <a:rPr lang="en-ZA" dirty="0"/>
              <a:t>Next step</a:t>
            </a:r>
          </a:p>
          <a:p>
            <a:r>
              <a:rPr lang="en-ZA" dirty="0"/>
              <a:t>Validate with real orders</a:t>
            </a:r>
          </a:p>
          <a:p>
            <a:r>
              <a:rPr lang="en-ZA" dirty="0"/>
              <a:t>Check performance across customer groups</a:t>
            </a:r>
          </a:p>
          <a:p>
            <a:r>
              <a:rPr lang="en-ZA" dirty="0"/>
              <a:t>Set threshold based on business cost</a:t>
            </a:r>
          </a:p>
          <a:p>
            <a:r>
              <a:rPr lang="en-ZA" dirty="0"/>
              <a:t>Monitor and re-test regularly</a:t>
            </a:r>
          </a:p>
          <a:p>
            <a:pPr marL="0" indent="0">
              <a:buNone/>
            </a:pPr>
            <a:r>
              <a:rPr lang="en-ZA" dirty="0"/>
              <a:t>Use prediction to guide careful review, not automatically reject customer orders</a:t>
            </a:r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14462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520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Wingdings</vt:lpstr>
      <vt:lpstr>Office Theme</vt:lpstr>
      <vt:lpstr>Predicting returns before they happen</vt:lpstr>
      <vt:lpstr>Why returns matter</vt:lpstr>
      <vt:lpstr>Data</vt:lpstr>
      <vt:lpstr>Data preparation</vt:lpstr>
      <vt:lpstr>Findings</vt:lpstr>
      <vt:lpstr>What is XGBoost</vt:lpstr>
      <vt:lpstr>Model performance</vt:lpstr>
      <vt:lpstr>Product details and past returns mattered </vt:lpstr>
      <vt:lpstr>How should the business use the model?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Mogomane Digashu</dc:creator>
  <cp:lastModifiedBy>Mogomane Digashu</cp:lastModifiedBy>
  <cp:revision>2</cp:revision>
  <dcterms:created xsi:type="dcterms:W3CDTF">2026-10-26T21:18:26Z</dcterms:created>
  <dcterms:modified xsi:type="dcterms:W3CDTF">2026-10-26T22:00:30Z</dcterms:modified>
</cp:coreProperties>
</file>